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1" r:id="rId6"/>
    <p:sldId id="260" r:id="rId7"/>
    <p:sldId id="262" r:id="rId8"/>
    <p:sldId id="263" r:id="rId9"/>
    <p:sldId id="268" r:id="rId10"/>
    <p:sldId id="271" r:id="rId11"/>
    <p:sldId id="270" r:id="rId12"/>
    <p:sldId id="269" r:id="rId13"/>
    <p:sldId id="273" r:id="rId14"/>
    <p:sldId id="275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yer" userId="c07e7b6061ff73d3" providerId="LiveId" clId="{25FA86AD-85F0-4D1E-A900-5A4FA29F885D}"/>
    <pc:docChg chg="delSld modSld">
      <pc:chgData name="laurent mayer" userId="c07e7b6061ff73d3" providerId="LiveId" clId="{25FA86AD-85F0-4D1E-A900-5A4FA29F885D}" dt="2026-09-05T14:38:25.449" v="16" actId="2696"/>
      <pc:docMkLst>
        <pc:docMk/>
      </pc:docMkLst>
      <pc:sldChg chg="modSp mod">
        <pc:chgData name="laurent mayer" userId="c07e7b6061ff73d3" providerId="LiveId" clId="{25FA86AD-85F0-4D1E-A900-5A4FA29F885D}" dt="2026-09-05T14:37:04.067" v="10" actId="20577"/>
        <pc:sldMkLst>
          <pc:docMk/>
          <pc:sldMk cId="4137575012" sldId="260"/>
        </pc:sldMkLst>
        <pc:spChg chg="mod">
          <ac:chgData name="laurent mayer" userId="c07e7b6061ff73d3" providerId="LiveId" clId="{25FA86AD-85F0-4D1E-A900-5A4FA29F885D}" dt="2026-09-05T14:37:04.067" v="10" actId="20577"/>
          <ac:spMkLst>
            <pc:docMk/>
            <pc:sldMk cId="4137575012" sldId="260"/>
            <ac:spMk id="3" creationId="{E3CC8506-3F66-4901-B787-87052BBC1ABF}"/>
          </ac:spMkLst>
        </pc:spChg>
      </pc:sldChg>
      <pc:sldChg chg="modSp mod">
        <pc:chgData name="laurent mayer" userId="c07e7b6061ff73d3" providerId="LiveId" clId="{25FA86AD-85F0-4D1E-A900-5A4FA29F885D}" dt="2026-09-05T14:36:42.052" v="2" actId="20577"/>
        <pc:sldMkLst>
          <pc:docMk/>
          <pc:sldMk cId="1159492700" sldId="261"/>
        </pc:sldMkLst>
        <pc:spChg chg="mod">
          <ac:chgData name="laurent mayer" userId="c07e7b6061ff73d3" providerId="LiveId" clId="{25FA86AD-85F0-4D1E-A900-5A4FA29F885D}" dt="2026-09-05T14:36:42.052" v="2" actId="20577"/>
          <ac:spMkLst>
            <pc:docMk/>
            <pc:sldMk cId="1159492700" sldId="261"/>
            <ac:spMk id="3" creationId="{B3EB2172-8678-46E9-8D77-4F3693CC0272}"/>
          </ac:spMkLst>
        </pc:spChg>
      </pc:sldChg>
      <pc:sldChg chg="modSp mod">
        <pc:chgData name="laurent mayer" userId="c07e7b6061ff73d3" providerId="LiveId" clId="{25FA86AD-85F0-4D1E-A900-5A4FA29F885D}" dt="2026-09-05T14:37:39.608" v="15" actId="207"/>
        <pc:sldMkLst>
          <pc:docMk/>
          <pc:sldMk cId="3060983021" sldId="262"/>
        </pc:sldMkLst>
        <pc:spChg chg="mod">
          <ac:chgData name="laurent mayer" userId="c07e7b6061ff73d3" providerId="LiveId" clId="{25FA86AD-85F0-4D1E-A900-5A4FA29F885D}" dt="2026-09-05T14:37:39.608" v="15" actId="207"/>
          <ac:spMkLst>
            <pc:docMk/>
            <pc:sldMk cId="3060983021" sldId="262"/>
            <ac:spMk id="3" creationId="{C7BB12F4-C546-4A4B-BEA7-A47C53A09318}"/>
          </ac:spMkLst>
        </pc:spChg>
      </pc:sldChg>
      <pc:sldChg chg="del">
        <pc:chgData name="laurent mayer" userId="c07e7b6061ff73d3" providerId="LiveId" clId="{25FA86AD-85F0-4D1E-A900-5A4FA29F885D}" dt="2026-09-05T14:38:25.449" v="16" actId="2696"/>
        <pc:sldMkLst>
          <pc:docMk/>
          <pc:sldMk cId="3923696457" sldId="2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060E16-B9CB-4074-95A4-9A24A2951D8D}" type="doc">
      <dgm:prSet loTypeId="urn:microsoft.com/office/officeart/2005/8/layout/cycle6" loCatId="cycle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5DF28582-E3FC-48B7-80F7-4ABB2BB2FF49}">
      <dgm:prSet/>
      <dgm:spPr/>
      <dgm:t>
        <a:bodyPr/>
        <a:lstStyle/>
        <a:p>
          <a:r>
            <a:rPr lang="fr-FR" b="1"/>
            <a:t>Poursuite de la partie IV de SNT.</a:t>
          </a:r>
          <a:endParaRPr lang="fr-FR"/>
        </a:p>
      </dgm:t>
    </dgm:pt>
    <dgm:pt modelId="{30470220-AF28-453E-8468-29131E38A0EE}" type="parTrans" cxnId="{FF46D110-CC28-4667-B2BC-8E3EA82E1A70}">
      <dgm:prSet/>
      <dgm:spPr/>
      <dgm:t>
        <a:bodyPr/>
        <a:lstStyle/>
        <a:p>
          <a:endParaRPr lang="en-US"/>
        </a:p>
      </dgm:t>
    </dgm:pt>
    <dgm:pt modelId="{8C42FA67-C9B7-4A96-90E9-F3ED222FEC1D}" type="sibTrans" cxnId="{FF46D110-CC28-4667-B2BC-8E3EA82E1A70}">
      <dgm:prSet/>
      <dgm:spPr/>
      <dgm:t>
        <a:bodyPr/>
        <a:lstStyle/>
        <a:p>
          <a:endParaRPr lang="en-US"/>
        </a:p>
      </dgm:t>
    </dgm:pt>
    <dgm:pt modelId="{36E816E0-E357-4584-B5AA-E9E01A000747}">
      <dgm:prSet/>
      <dgm:spPr/>
      <dgm:t>
        <a:bodyPr/>
        <a:lstStyle/>
        <a:p>
          <a:r>
            <a:rPr lang="fr-FR" b="1"/>
            <a:t>Bibliothèque tkinter (Python).</a:t>
          </a:r>
          <a:endParaRPr lang="en-US"/>
        </a:p>
      </dgm:t>
    </dgm:pt>
    <dgm:pt modelId="{8C1D9742-3B88-4B3E-828E-E4E82709CF51}" type="parTrans" cxnId="{1E3FBBAC-B755-4BBF-A79D-2E2BC44B7006}">
      <dgm:prSet/>
      <dgm:spPr/>
      <dgm:t>
        <a:bodyPr/>
        <a:lstStyle/>
        <a:p>
          <a:endParaRPr lang="en-US"/>
        </a:p>
      </dgm:t>
    </dgm:pt>
    <dgm:pt modelId="{0C9B38BC-15A8-4E05-BA2C-43D6F975AA04}" type="sibTrans" cxnId="{1E3FBBAC-B755-4BBF-A79D-2E2BC44B7006}">
      <dgm:prSet/>
      <dgm:spPr/>
      <dgm:t>
        <a:bodyPr/>
        <a:lstStyle/>
        <a:p>
          <a:endParaRPr lang="en-US"/>
        </a:p>
      </dgm:t>
    </dgm:pt>
    <dgm:pt modelId="{2068A67C-7282-4ECA-A918-44D3EB99F36A}" type="pres">
      <dgm:prSet presAssocID="{C5060E16-B9CB-4074-95A4-9A24A2951D8D}" presName="cycle" presStyleCnt="0">
        <dgm:presLayoutVars>
          <dgm:dir/>
          <dgm:resizeHandles val="exact"/>
        </dgm:presLayoutVars>
      </dgm:prSet>
      <dgm:spPr/>
    </dgm:pt>
    <dgm:pt modelId="{3CCC67CE-9393-46E9-83A7-D92933C80608}" type="pres">
      <dgm:prSet presAssocID="{5DF28582-E3FC-48B7-80F7-4ABB2BB2FF49}" presName="node" presStyleLbl="node1" presStyleIdx="0" presStyleCnt="2">
        <dgm:presLayoutVars>
          <dgm:bulletEnabled val="1"/>
        </dgm:presLayoutVars>
      </dgm:prSet>
      <dgm:spPr/>
    </dgm:pt>
    <dgm:pt modelId="{23AE577D-E34E-41A9-BBE1-812687F0ACA0}" type="pres">
      <dgm:prSet presAssocID="{5DF28582-E3FC-48B7-80F7-4ABB2BB2FF49}" presName="spNode" presStyleCnt="0"/>
      <dgm:spPr/>
    </dgm:pt>
    <dgm:pt modelId="{345407ED-95F6-4F82-8DFF-86D88EED3739}" type="pres">
      <dgm:prSet presAssocID="{8C42FA67-C9B7-4A96-90E9-F3ED222FEC1D}" presName="sibTrans" presStyleLbl="sibTrans1D1" presStyleIdx="0" presStyleCnt="2"/>
      <dgm:spPr/>
    </dgm:pt>
    <dgm:pt modelId="{8E7069C7-8AD4-4F22-86F0-B60099EB411F}" type="pres">
      <dgm:prSet presAssocID="{36E816E0-E357-4584-B5AA-E9E01A000747}" presName="node" presStyleLbl="node1" presStyleIdx="1" presStyleCnt="2">
        <dgm:presLayoutVars>
          <dgm:bulletEnabled val="1"/>
        </dgm:presLayoutVars>
      </dgm:prSet>
      <dgm:spPr/>
    </dgm:pt>
    <dgm:pt modelId="{B563BD7E-9874-4FA7-B646-167B9CC0C730}" type="pres">
      <dgm:prSet presAssocID="{36E816E0-E357-4584-B5AA-E9E01A000747}" presName="spNode" presStyleCnt="0"/>
      <dgm:spPr/>
    </dgm:pt>
    <dgm:pt modelId="{42AD8260-EBCC-420B-83A4-18FC8808085D}" type="pres">
      <dgm:prSet presAssocID="{0C9B38BC-15A8-4E05-BA2C-43D6F975AA04}" presName="sibTrans" presStyleLbl="sibTrans1D1" presStyleIdx="1" presStyleCnt="2"/>
      <dgm:spPr/>
    </dgm:pt>
  </dgm:ptLst>
  <dgm:cxnLst>
    <dgm:cxn modelId="{FF46D110-CC28-4667-B2BC-8E3EA82E1A70}" srcId="{C5060E16-B9CB-4074-95A4-9A24A2951D8D}" destId="{5DF28582-E3FC-48B7-80F7-4ABB2BB2FF49}" srcOrd="0" destOrd="0" parTransId="{30470220-AF28-453E-8468-29131E38A0EE}" sibTransId="{8C42FA67-C9B7-4A96-90E9-F3ED222FEC1D}"/>
    <dgm:cxn modelId="{37420D3D-9390-4029-AEF4-3FF1E456CCB7}" type="presOf" srcId="{8C42FA67-C9B7-4A96-90E9-F3ED222FEC1D}" destId="{345407ED-95F6-4F82-8DFF-86D88EED3739}" srcOrd="0" destOrd="0" presId="urn:microsoft.com/office/officeart/2005/8/layout/cycle6"/>
    <dgm:cxn modelId="{3939D243-F212-4AF5-8936-E3C7CB71F85C}" type="presOf" srcId="{C5060E16-B9CB-4074-95A4-9A24A2951D8D}" destId="{2068A67C-7282-4ECA-A918-44D3EB99F36A}" srcOrd="0" destOrd="0" presId="urn:microsoft.com/office/officeart/2005/8/layout/cycle6"/>
    <dgm:cxn modelId="{49529C80-6ADA-4A59-A718-762E4411EB72}" type="presOf" srcId="{0C9B38BC-15A8-4E05-BA2C-43D6F975AA04}" destId="{42AD8260-EBCC-420B-83A4-18FC8808085D}" srcOrd="0" destOrd="0" presId="urn:microsoft.com/office/officeart/2005/8/layout/cycle6"/>
    <dgm:cxn modelId="{1E3FBBAC-B755-4BBF-A79D-2E2BC44B7006}" srcId="{C5060E16-B9CB-4074-95A4-9A24A2951D8D}" destId="{36E816E0-E357-4584-B5AA-E9E01A000747}" srcOrd="1" destOrd="0" parTransId="{8C1D9742-3B88-4B3E-828E-E4E82709CF51}" sibTransId="{0C9B38BC-15A8-4E05-BA2C-43D6F975AA04}"/>
    <dgm:cxn modelId="{B1F55CCC-9045-4BBD-BEB0-70AB9786526C}" type="presOf" srcId="{36E816E0-E357-4584-B5AA-E9E01A000747}" destId="{8E7069C7-8AD4-4F22-86F0-B60099EB411F}" srcOrd="0" destOrd="0" presId="urn:microsoft.com/office/officeart/2005/8/layout/cycle6"/>
    <dgm:cxn modelId="{D3E5DFD7-2DC7-4F21-ACDB-A513C703B2DC}" type="presOf" srcId="{5DF28582-E3FC-48B7-80F7-4ABB2BB2FF49}" destId="{3CCC67CE-9393-46E9-83A7-D92933C80608}" srcOrd="0" destOrd="0" presId="urn:microsoft.com/office/officeart/2005/8/layout/cycle6"/>
    <dgm:cxn modelId="{03F440BA-732F-4351-9872-C334D0371CF6}" type="presParOf" srcId="{2068A67C-7282-4ECA-A918-44D3EB99F36A}" destId="{3CCC67CE-9393-46E9-83A7-D92933C80608}" srcOrd="0" destOrd="0" presId="urn:microsoft.com/office/officeart/2005/8/layout/cycle6"/>
    <dgm:cxn modelId="{04A63261-C945-42EB-9157-EE5B964BF491}" type="presParOf" srcId="{2068A67C-7282-4ECA-A918-44D3EB99F36A}" destId="{23AE577D-E34E-41A9-BBE1-812687F0ACA0}" srcOrd="1" destOrd="0" presId="urn:microsoft.com/office/officeart/2005/8/layout/cycle6"/>
    <dgm:cxn modelId="{F9E66D8B-33CB-4DBE-BA4F-5F52BF7E1FF4}" type="presParOf" srcId="{2068A67C-7282-4ECA-A918-44D3EB99F36A}" destId="{345407ED-95F6-4F82-8DFF-86D88EED3739}" srcOrd="2" destOrd="0" presId="urn:microsoft.com/office/officeart/2005/8/layout/cycle6"/>
    <dgm:cxn modelId="{FA074F76-C225-457B-B5EB-714139B26901}" type="presParOf" srcId="{2068A67C-7282-4ECA-A918-44D3EB99F36A}" destId="{8E7069C7-8AD4-4F22-86F0-B60099EB411F}" srcOrd="3" destOrd="0" presId="urn:microsoft.com/office/officeart/2005/8/layout/cycle6"/>
    <dgm:cxn modelId="{254DEBA1-4302-49BE-B7EA-8CF8F8526EA7}" type="presParOf" srcId="{2068A67C-7282-4ECA-A918-44D3EB99F36A}" destId="{B563BD7E-9874-4FA7-B646-167B9CC0C730}" srcOrd="4" destOrd="0" presId="urn:microsoft.com/office/officeart/2005/8/layout/cycle6"/>
    <dgm:cxn modelId="{F63BE378-E724-4EA9-BE50-055B39D58654}" type="presParOf" srcId="{2068A67C-7282-4ECA-A918-44D3EB99F36A}" destId="{42AD8260-EBCC-420B-83A4-18FC8808085D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C67CE-9393-46E9-83A7-D92933C80608}">
      <dsp:nvSpPr>
        <dsp:cNvPr id="0" name=""/>
        <dsp:cNvSpPr/>
      </dsp:nvSpPr>
      <dsp:spPr>
        <a:xfrm>
          <a:off x="685" y="1045896"/>
          <a:ext cx="2450452" cy="1592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kern="1200"/>
            <a:t>Poursuite de la partie IV de SNT.</a:t>
          </a:r>
          <a:endParaRPr lang="fr-FR" sz="2900" kern="1200"/>
        </a:p>
      </dsp:txBody>
      <dsp:txXfrm>
        <a:off x="78439" y="1123650"/>
        <a:ext cx="2294944" cy="1437286"/>
      </dsp:txXfrm>
    </dsp:sp>
    <dsp:sp modelId="{345407ED-95F6-4F82-8DFF-86D88EED3739}">
      <dsp:nvSpPr>
        <dsp:cNvPr id="0" name=""/>
        <dsp:cNvSpPr/>
      </dsp:nvSpPr>
      <dsp:spPr>
        <a:xfrm>
          <a:off x="1225912" y="489312"/>
          <a:ext cx="2705962" cy="2705962"/>
        </a:xfrm>
        <a:custGeom>
          <a:avLst/>
          <a:gdLst/>
          <a:ahLst/>
          <a:cxnLst/>
          <a:rect l="0" t="0" r="0" b="0"/>
          <a:pathLst>
            <a:path>
              <a:moveTo>
                <a:pt x="272240" y="539005"/>
              </a:moveTo>
              <a:arcTo wR="1352981" hR="1352981" stAng="13019147" swAng="636170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7069C7-8AD4-4F22-86F0-B60099EB411F}">
      <dsp:nvSpPr>
        <dsp:cNvPr id="0" name=""/>
        <dsp:cNvSpPr/>
      </dsp:nvSpPr>
      <dsp:spPr>
        <a:xfrm>
          <a:off x="2706648" y="1045896"/>
          <a:ext cx="2450452" cy="1592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b="1" kern="1200"/>
            <a:t>Bibliothèque tkinter (Python).</a:t>
          </a:r>
          <a:endParaRPr lang="en-US" sz="2900" kern="1200"/>
        </a:p>
      </dsp:txBody>
      <dsp:txXfrm>
        <a:off x="2784402" y="1123650"/>
        <a:ext cx="2294944" cy="1437286"/>
      </dsp:txXfrm>
    </dsp:sp>
    <dsp:sp modelId="{42AD8260-EBCC-420B-83A4-18FC8808085D}">
      <dsp:nvSpPr>
        <dsp:cNvPr id="0" name=""/>
        <dsp:cNvSpPr/>
      </dsp:nvSpPr>
      <dsp:spPr>
        <a:xfrm>
          <a:off x="1225912" y="489312"/>
          <a:ext cx="2705962" cy="2705962"/>
        </a:xfrm>
        <a:custGeom>
          <a:avLst/>
          <a:gdLst/>
          <a:ahLst/>
          <a:cxnLst/>
          <a:rect l="0" t="0" r="0" b="0"/>
          <a:pathLst>
            <a:path>
              <a:moveTo>
                <a:pt x="2433722" y="2166957"/>
              </a:moveTo>
              <a:arcTo wR="1352981" hR="1352981" stAng="2219147" swAng="636170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554E7-5E09-438E-8367-7AE66A4F1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1983D8-24CF-4115-A980-196E964A8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89AF1D-D753-48D2-A664-940DAB7F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4C37FC-E2D4-475E-BCCF-9C81B8DC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226882-D89A-478D-B7A2-225EA964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94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6AEF6-BAEE-4CE0-BB04-EC00BA62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EA494B-9BBD-4FAF-BD5C-5A7313AB6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54ED5-BBE3-4190-B536-A83E33F4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C829F3-FF3A-47A0-875A-51493828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369E64-6D92-465E-8AC5-D0148E6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46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C196B-A533-48C7-8F57-3A011D33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2638F-57DB-4586-9382-75D94B4C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E40D5F-9C9C-4B40-ADA2-E11607B0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05C532-5EB5-4AC1-9BE8-8F1FE7B4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C66AE2-F569-41DF-85CC-ACDA8A2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B9F67-474B-4EDD-9F44-656AC937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65143F-9D79-47AD-845B-EEFDB3017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1BCD47-C4E5-4A04-BFF2-664218342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4F12CA-0375-49A3-A10A-365327AC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D5D899-2A7E-422F-A3EF-A631B19C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2F314B-403D-4C59-972F-03E18DA9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9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365FC-D141-4615-AC6D-6E8C852C9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15B7C1-8419-4A06-A379-9E5EE0BB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72CE19-8AC8-459C-A754-C6DF9E48F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603055-E1E1-4F33-B82D-A57B82443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AA82D3-52AF-4E33-B1AC-46E5C65D0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7D1661-4265-4612-91C8-25DEAD34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7722567-B41F-4018-B12E-29F45A87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27945A-655F-42CF-9A37-9BD7A610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36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AF776-D4E6-46D1-81DA-1529A583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57C8A9-82B8-4D91-BE66-F714DC57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9B8B55-7756-4B73-974F-502C4D56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3258FC-A707-40AB-B0B9-72C1E1F9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1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EBB0CB-D84D-424A-AB1F-C80B1229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34950E-C417-4F33-A634-247B332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B8BF6F-0404-4242-A681-860EBE02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6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4B9E23-0BA4-4CF7-8D77-E5EAE832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76F1E5-F6DE-498B-9C31-0F5D111E1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BF0C3A-CCEE-4E10-832F-741C421EF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769647-A7BB-41ED-8442-7709F61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1B1D80-6C16-46C7-85FE-A10CA4622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9DF27FE-92F7-495E-A146-FB729E4A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65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8C51B-1DB3-4E69-AD26-BA4B64F3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24E505-1489-4E89-9ECC-16284765A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D8F8B5-5ACE-4FCF-AB7F-23B1C8B41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50C721-27CB-4132-87DF-D5579321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C30E12-A9D8-4E33-A414-B3610D1E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6C9C77-FF0B-42E2-B73B-DE66374F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54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46E23-383B-475E-8749-8D3051CD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4CBBB9-B248-4280-A163-5E7067FA4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0D138-3B1E-42AF-AD01-BEA8C522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C1F65-91EA-4394-89E0-54454EB0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AF1B2B-A3A8-47B3-89A3-2B65395E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28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53FA46-43EB-4A67-917E-EE9E4B449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52549A-CB57-4BB8-ACEB-90F362691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73A184-8B4F-4F23-85CB-06C4DE0F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C67D5F-B017-4138-B442-02146A49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801D1B-4328-4DA7-9D59-AFA49FC5B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52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24A432-651E-4F4B-BE4F-41C91815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669BE7-D53E-4EA9-B85A-F188D8D8D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8A4D7A-FA1A-4C48-AA8C-DD288A15C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DA2E6-7436-4431-B7FD-18DF53C8EC1C}" type="datetimeFigureOut">
              <a:rPr lang="fr-FR" smtClean="0"/>
              <a:t>05/09/2026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7321F-87E1-4BA4-9060-E4B33C564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F979FF-B323-49F3-BB97-26F591E98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0666-104E-4934-84F4-8F1638C3D5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98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CD051-21A5-4382-B09C-85C255076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35621"/>
          </a:xfrm>
        </p:spPr>
        <p:txBody>
          <a:bodyPr/>
          <a:lstStyle/>
          <a:p>
            <a:r>
              <a:rPr lang="fr-FR" b="1" dirty="0">
                <a:solidFill>
                  <a:schemeClr val="accent1"/>
                </a:solidFill>
              </a:rPr>
              <a:t>NSI en Première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0C1E33-E952-4DE0-B67F-BEAEAA2E6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9359"/>
            <a:ext cx="9144000" cy="2930769"/>
          </a:xfrm>
        </p:spPr>
        <p:txBody>
          <a:bodyPr/>
          <a:lstStyle/>
          <a:p>
            <a:r>
              <a:rPr lang="fr-FR" sz="3600" b="1" dirty="0">
                <a:effectLst>
                  <a:outerShdw blurRad="50800" dist="50800" dir="5400000" algn="ctr" rotWithShape="0">
                    <a:srgbClr val="FF0000"/>
                  </a:outerShdw>
                </a:effectLst>
              </a:rPr>
              <a:t>Sommaire</a:t>
            </a:r>
          </a:p>
          <a:p>
            <a:pPr algn="l"/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Demandez le programme !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Organisation des cours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L’ancienne épreuve du baccalauréat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Les projets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fr-FR" dirty="0"/>
          </a:p>
          <a:p>
            <a:pPr algn="l"/>
            <a:endParaRPr lang="fr-FR" dirty="0"/>
          </a:p>
          <a:p>
            <a:pPr algn="l"/>
            <a:endParaRPr lang="fr-FR" dirty="0"/>
          </a:p>
          <a:p>
            <a:pPr algn="l"/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282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9978FE-EFC4-49C1-BA5B-85F4116D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Demandez le programme 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D4607-CE43-4C62-B323-C757C895613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Quatre grands thèmes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Données</a:t>
            </a:r>
            <a:r>
              <a:rPr lang="fr-FR" b="1" dirty="0">
                <a:solidFill>
                  <a:srgbClr val="002060"/>
                </a:solidFill>
              </a:rPr>
              <a:t> : représentent des informations très diverses sous forme unifiée.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Algorithmes</a:t>
            </a:r>
            <a:r>
              <a:rPr lang="fr-FR" b="1" dirty="0">
                <a:solidFill>
                  <a:srgbClr val="002060"/>
                </a:solidFill>
              </a:rPr>
              <a:t> : succession finie et ordonnées d’instructions en vue de résoudre un problème.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Langages</a:t>
            </a:r>
            <a:r>
              <a:rPr lang="fr-FR" b="1" dirty="0">
                <a:solidFill>
                  <a:srgbClr val="002060"/>
                </a:solidFill>
              </a:rPr>
              <a:t> : traduction d’algorithmes abstraits en programmes exécutables par une machine.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Machines</a:t>
            </a:r>
            <a:r>
              <a:rPr lang="fr-FR" b="1" dirty="0">
                <a:solidFill>
                  <a:srgbClr val="002060"/>
                </a:solidFill>
              </a:rPr>
              <a:t> : exécutent les programmes, assurent la persistance de données et gèrent la communication entre elles.</a:t>
            </a:r>
          </a:p>
        </p:txBody>
      </p:sp>
    </p:spTree>
    <p:extLst>
      <p:ext uri="{BB962C8B-B14F-4D97-AF65-F5344CB8AC3E}">
        <p14:creationId xmlns:p14="http://schemas.microsoft.com/office/powerpoint/2010/main" val="86069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CDA59-9C20-4CAA-B42A-9659AAB4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801D0-49F9-49B6-A0C8-C1C2FD858663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marL="0" indent="0" algn="ctr">
              <a:buNone/>
            </a:pP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Types de base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Représentation de nombres, booléens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fr-FR" b="1" dirty="0">
                <a:solidFill>
                  <a:srgbClr val="FF0000"/>
                </a:solidFill>
              </a:rPr>
              <a:t>circuits logiques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Types construits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Listes, tuples, dictionnaires, </a:t>
            </a:r>
            <a:r>
              <a:rPr lang="fr-FR" b="1" dirty="0">
                <a:solidFill>
                  <a:srgbClr val="FF0000"/>
                </a:solidFill>
              </a:rPr>
              <a:t>matrices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Fichiers organisés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Fichiers .csv et lien avec un tableur.</a:t>
            </a:r>
          </a:p>
          <a:p>
            <a:pPr marL="457200" lvl="1" indent="0">
              <a:buNone/>
            </a:pPr>
            <a:endParaRPr lang="fr-FR" b="1" i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dirty="0">
              <a:solidFill>
                <a:srgbClr val="00206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fr-FR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6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10692-A156-4A71-A743-9426B630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Algorithmique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844823-2ACF-4C69-98BF-F99FDF79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Algorithmes de bases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recherche d’occurrences, moyennes, minimum / maximum etc. Un peu d’histoire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.</a:t>
            </a:r>
            <a:endParaRPr lang="fr-FR" b="1" i="1" u="sng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Recherche d’un élément </a:t>
            </a:r>
            <a:r>
              <a:rPr lang="fr-FR" b="1" dirty="0"/>
              <a:t>:</a:t>
            </a:r>
            <a:r>
              <a:rPr lang="fr-FR" b="1" i="1" dirty="0"/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recherche par dichotomie.</a:t>
            </a: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Algorithmique de tri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sélection, insertion. </a:t>
            </a:r>
            <a:r>
              <a:rPr lang="fr-FR" b="1" dirty="0">
                <a:solidFill>
                  <a:srgbClr val="FF0000"/>
                </a:solidFill>
              </a:rPr>
              <a:t>Tri à bulles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Algorithmes gloutons</a:t>
            </a:r>
            <a:r>
              <a:rPr lang="fr-FR" b="1" dirty="0"/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: rendu de monnaie, problème du sac à dos.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>
                <a:solidFill>
                  <a:srgbClr val="FF0000"/>
                </a:solidFill>
              </a:rPr>
              <a:t>Calculs de distance</a:t>
            </a:r>
            <a:r>
              <a:rPr lang="fr-FR" b="1" dirty="0">
                <a:solidFill>
                  <a:srgbClr val="FF0000"/>
                </a:solidFill>
              </a:rPr>
              <a:t> : euclidienne, Manhattan, Tchebychev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fr-FR" b="1" dirty="0"/>
          </a:p>
          <a:p>
            <a:pPr marL="0" indent="0" algn="ctr">
              <a:buNone/>
            </a:pPr>
            <a:endParaRPr lang="fr-F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234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B8BCD-94EC-4647-A581-1F0ECE0C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Langages et programmation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EB2172-8678-46E9-8D77-4F3693CC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Langage Python</a:t>
            </a:r>
            <a:r>
              <a:rPr lang="fr-FR" b="1" dirty="0"/>
              <a:t> : programmation impérative, fonctionnelle, </a:t>
            </a:r>
            <a:r>
              <a:rPr lang="fr-FR" b="1" dirty="0">
                <a:solidFill>
                  <a:srgbClr val="FF0000"/>
                </a:solidFill>
              </a:rPr>
              <a:t>événementielle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>
                <a:solidFill>
                  <a:srgbClr val="FF0000"/>
                </a:solidFill>
              </a:rPr>
              <a:t>Langages de description</a:t>
            </a:r>
            <a:r>
              <a:rPr lang="fr-FR" b="1" dirty="0">
                <a:solidFill>
                  <a:srgbClr val="FF0000"/>
                </a:solidFill>
              </a:rPr>
              <a:t> : (facultatif) HTML, CSS et javascript</a:t>
            </a:r>
            <a:r>
              <a:rPr lang="fr-FR" b="1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Comparaison entre langages</a:t>
            </a:r>
            <a:r>
              <a:rPr lang="fr-FR" b="1" dirty="0"/>
              <a:t> : compilé / interprété, typage statique / dynamique. Exemple avec le langage C++        . Un peu d’histoire </a:t>
            </a:r>
            <a:r>
              <a:rPr lang="fr-FR" b="1" dirty="0">
                <a:sym typeface="Wingdings" panose="05000000000000000000" pitchFamily="2" charset="2"/>
              </a:rPr>
              <a:t>.</a:t>
            </a:r>
          </a:p>
        </p:txBody>
      </p:sp>
      <p:pic>
        <p:nvPicPr>
          <p:cNvPr id="5" name="Graphique 4" descr="Contour de visage souriant et des cœurs avec un remplissage uni">
            <a:extLst>
              <a:ext uri="{FF2B5EF4-FFF2-40B4-BE49-F238E27FC236}">
                <a16:creationId xmlns:a16="http://schemas.microsoft.com/office/drawing/2014/main" id="{786EE1A3-E114-A431-AA68-F5FCF85551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3722" y="4164580"/>
            <a:ext cx="538049" cy="53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9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FED275-0C6E-4697-AABB-220F140B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Machines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CC8506-3F66-4901-B787-87052BBC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Contenu du thème </a:t>
            </a:r>
          </a:p>
          <a:p>
            <a:pPr marL="0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Communication entre machines</a:t>
            </a:r>
            <a:r>
              <a:rPr lang="fr-FR" b="1" dirty="0"/>
              <a:t> : Protocole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TCP / IP</a:t>
            </a:r>
            <a:r>
              <a:rPr lang="fr-FR" b="1" dirty="0"/>
              <a:t>, modèle théorique OSI.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Réseaux</a:t>
            </a:r>
            <a:r>
              <a:rPr lang="fr-FR" b="1" dirty="0"/>
              <a:t> : simulation via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Filius</a:t>
            </a:r>
            <a:r>
              <a:rPr lang="fr-FR" b="1" dirty="0"/>
              <a:t> (suite de SNT).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Hardware</a:t>
            </a:r>
            <a:r>
              <a:rPr lang="fr-FR" b="1" dirty="0"/>
              <a:t>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composants</a:t>
            </a:r>
            <a:r>
              <a:rPr lang="fr-FR" b="1" dirty="0"/>
              <a:t> d’un ordinateur, étude du processeur.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b="1" u="sng" dirty="0"/>
              <a:t>Commandes en ligne</a:t>
            </a:r>
            <a:r>
              <a:rPr lang="fr-FR" b="1" dirty="0"/>
              <a:t> : Windows.</a:t>
            </a:r>
          </a:p>
          <a:p>
            <a:pPr marL="457200" lvl="1" indent="0">
              <a:buNone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  <a:p>
            <a:pPr marL="971550" lvl="1" indent="-514350">
              <a:buFont typeface="+mj-lt"/>
              <a:buAutoNum type="arabicPeriod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3757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92180-9033-4242-B0F7-CC5BA5A2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Organisation des cours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B12F4-C546-4A4B-BEA7-A47C53A09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90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En Première, </a:t>
            </a:r>
            <a:r>
              <a:rPr lang="fr-FR" b="1" dirty="0"/>
              <a:t>4H de cours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semaine, largement en autonomie.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Les </a:t>
            </a:r>
            <a:r>
              <a:rPr lang="fr-FR" b="1" dirty="0"/>
              <a:t>cours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et </a:t>
            </a:r>
            <a:r>
              <a:rPr lang="fr-FR" b="1" dirty="0"/>
              <a:t>exercices + corrigés numérisés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et disponibles sur GitHub.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1 à 2 heures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semaine d’activité de type « projet » / trophées NSI.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b="1" dirty="0"/>
              <a:t>Evaluation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par quinzaine </a:t>
            </a:r>
            <a:r>
              <a:rPr lang="fr-FR" b="1" dirty="0"/>
              <a:t>sous forme de QCM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fr-FR" b="1" dirty="0"/>
              <a:t>Tests blancs en amont.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Les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projets</a:t>
            </a:r>
            <a:r>
              <a:rPr lang="fr-FR" b="1" dirty="0"/>
              <a:t> : 1/3 de la moyenne.</a:t>
            </a:r>
          </a:p>
          <a:p>
            <a:pPr marL="0" indent="0">
              <a:buNone/>
            </a:pP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098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85FE1-CD45-4060-A7AB-AFA2A0DB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L’épreuve du baccalauréat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9D8150-D681-463F-AD42-D81B997FE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b="1" dirty="0"/>
              <a:t>Mise en place par la réforme du lycée mais abandonnée : QCM de 42 questions à compléter en 2 heures.</a:t>
            </a:r>
          </a:p>
          <a:p>
            <a:pPr marL="0" indent="0">
              <a:buNone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Spécialité abandonnée :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coefficient 8</a:t>
            </a:r>
            <a:r>
              <a:rPr lang="fr-FR" b="1" dirty="0"/>
              <a:t> (moyenne annuelle).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Epreuve(s)</a:t>
            </a:r>
            <a:r>
              <a:rPr lang="fr-FR" b="1" dirty="0"/>
              <a:t> dans l’esprit du bac au </a:t>
            </a:r>
            <a:r>
              <a:rPr lang="fr-FR" b="1" dirty="0">
                <a:solidFill>
                  <a:schemeClr val="accent5">
                    <a:lumMod val="50000"/>
                  </a:schemeClr>
                </a:solidFill>
              </a:rPr>
              <a:t>(second)/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troisième trimestre.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309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86930-A2A3-4777-970B-8CC040FA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Projets / Carré magique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666D63-68B5-49D9-8E5E-734E8B0C51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u="sng" dirty="0"/>
              <a:t>Premier trimestre</a:t>
            </a:r>
            <a:endParaRPr lang="fr-FR" dirty="0"/>
          </a:p>
          <a:p>
            <a:pPr marL="0" indent="0" algn="ctr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Déterminer si un carré est magique ou non.</a:t>
            </a:r>
          </a:p>
          <a:p>
            <a:pPr marL="0" indent="0" algn="ctr">
              <a:buNone/>
            </a:pPr>
            <a:endParaRPr lang="fr-FR" b="1" i="1" u="sng" dirty="0"/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5C6270B-B8C6-B950-8375-A4C8CCF26A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i="1" u="sng" dirty="0"/>
              <a:t>Un carré magique</a:t>
            </a:r>
          </a:p>
          <a:p>
            <a:pPr marL="0" indent="0" algn="ctr">
              <a:buNone/>
            </a:pPr>
            <a:endParaRPr lang="fr-FR" b="1" u="sng" dirty="0"/>
          </a:p>
          <a:p>
            <a:pPr marL="0" indent="0" algn="ctr">
              <a:buNone/>
            </a:pPr>
            <a:endParaRPr lang="fr-FR" b="1" u="sng" dirty="0"/>
          </a:p>
          <a:p>
            <a:pPr marL="0" indent="0" algn="ctr">
              <a:buNone/>
            </a:pPr>
            <a:endParaRPr lang="fr-FR" b="1" u="sng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3623830-2285-EC44-2B32-8CFB38C4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21" y="2829208"/>
            <a:ext cx="3862155" cy="238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7E6E36D-86CE-47D1-954A-757E28D9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/>
              <a:t>Projets / Jeu Pong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295D77-AD10-F9E1-65DD-4EEDE1127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48511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sz="3000" b="1" u="sng" dirty="0"/>
              <a:t>Second trimestre</a:t>
            </a:r>
            <a:endParaRPr lang="fr-FR" sz="3000" b="1" i="1" u="sng" dirty="0"/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Revisite du célèbre </a:t>
            </a:r>
            <a:r>
              <a:rPr lang="fr-FR" b="1" dirty="0">
                <a:solidFill>
                  <a:schemeClr val="accent5">
                    <a:lumMod val="50000"/>
                  </a:schemeClr>
                </a:solidFill>
              </a:rPr>
              <a:t>jeu Pong des années 70</a:t>
            </a:r>
            <a:r>
              <a:rPr lang="fr-FR" b="1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398CF0B-4D27-353F-2785-1FB5DD4045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i="1" u="sng" dirty="0"/>
              <a:t>Exemple</a:t>
            </a:r>
          </a:p>
          <a:p>
            <a:pPr marL="0" indent="0">
              <a:buNone/>
            </a:pPr>
            <a:endParaRPr lang="fr-FR" b="1" i="1" u="sng" dirty="0"/>
          </a:p>
          <a:p>
            <a:pPr marL="0" indent="0">
              <a:buNone/>
            </a:pPr>
            <a:endParaRPr lang="fr-FR" b="1" i="1" u="sng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5A4216-8833-5BE3-B4B5-31A7F5C20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286" y="2590757"/>
            <a:ext cx="5094514" cy="311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3F37E-2258-4A0E-9913-AA45B111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Projets / Logiciel de manipulation d’images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16EE66-E812-4A37-BA78-4E46640E9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23125"/>
          </a:xfrm>
        </p:spPr>
        <p:txBody>
          <a:bodyPr>
            <a:normAutofit/>
          </a:bodyPr>
          <a:lstStyle/>
          <a:p>
            <a:pPr algn="ctr"/>
            <a:r>
              <a:rPr lang="fr-FR" sz="2800" u="sng" dirty="0"/>
              <a:t>Troisième trimestre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509E405-4E49-4731-9225-C2195CB1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23125"/>
          </a:xfrm>
        </p:spPr>
        <p:txBody>
          <a:bodyPr>
            <a:normAutofit/>
          </a:bodyPr>
          <a:lstStyle/>
          <a:p>
            <a:pPr algn="ctr"/>
            <a:r>
              <a:rPr lang="fr-FR" sz="2800" i="1" u="sng" dirty="0"/>
              <a:t>Exemple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C751D561-83BB-45EF-AC86-660E7BD5620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140701"/>
            <a:ext cx="5183188" cy="2413336"/>
          </a:xfrm>
        </p:spPr>
      </p:pic>
      <p:graphicFrame>
        <p:nvGraphicFramePr>
          <p:cNvPr id="14" name="Espace réservé du contenu 9">
            <a:extLst>
              <a:ext uri="{FF2B5EF4-FFF2-40B4-BE49-F238E27FC236}">
                <a16:creationId xmlns:a16="http://schemas.microsoft.com/office/drawing/2014/main" id="{1279746A-496C-E2A9-DC65-97D74774924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886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3F37E-2258-4A0E-9913-AA45B111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Projets / QCM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16EE66-E812-4A37-BA78-4E46640E9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23125"/>
          </a:xfrm>
        </p:spPr>
        <p:txBody>
          <a:bodyPr>
            <a:normAutofit/>
          </a:bodyPr>
          <a:lstStyle/>
          <a:p>
            <a:pPr algn="ctr"/>
            <a:r>
              <a:rPr lang="fr-FR" sz="2800" u="sng" dirty="0"/>
              <a:t>Troisième trimestre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509E405-4E49-4731-9225-C2195CB12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23125"/>
          </a:xfrm>
        </p:spPr>
        <p:txBody>
          <a:bodyPr>
            <a:normAutofit/>
          </a:bodyPr>
          <a:lstStyle/>
          <a:p>
            <a:pPr algn="ctr"/>
            <a:r>
              <a:rPr lang="fr-FR" sz="2800" i="1" u="sng" dirty="0"/>
              <a:t>Exemple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A330177-5E63-EF42-E032-4D95DD28C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94819"/>
            <a:ext cx="5157787" cy="31948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Génération d’un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QCM</a:t>
            </a:r>
            <a:r>
              <a:rPr lang="fr-FR" b="1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Langages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HTML / CSS / JavaScript</a:t>
            </a:r>
            <a:r>
              <a:rPr lang="fr-FR" b="1" dirty="0"/>
              <a:t>.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760B6CCE-1CD8-E6DB-2178-BA4CF99F9A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49049" y="2505075"/>
            <a:ext cx="5029490" cy="3684588"/>
          </a:xfrm>
        </p:spPr>
      </p:pic>
    </p:spTree>
    <p:extLst>
      <p:ext uri="{BB962C8B-B14F-4D97-AF65-F5344CB8AC3E}">
        <p14:creationId xmlns:p14="http://schemas.microsoft.com/office/powerpoint/2010/main" val="24911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2DE6800-6223-4850-91CD-8B369F4E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Production / Terrain en 3D</a:t>
            </a:r>
            <a:endParaRPr lang="fr-FR" dirty="0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E0E897-9AED-30BD-48D9-2ECCEF704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u="sng" dirty="0"/>
              <a:t>Second / Troisième trimestre 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Génération d’un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terrain </a:t>
            </a:r>
            <a:r>
              <a:rPr lang="fr-FR" b="1" dirty="0"/>
              <a:t>aléatoire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en 3D</a:t>
            </a:r>
            <a:r>
              <a:rPr lang="fr-FR" b="1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Algorithme de 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Perlin</a:t>
            </a:r>
            <a:r>
              <a:rPr lang="fr-FR" b="1" dirty="0"/>
              <a:t>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9F0171-8AAB-6F7A-B680-88FB3A4DF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i="1" u="sng" dirty="0"/>
              <a:t>Exemple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9C9725D-3246-FBEC-119A-EC9A75CE0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423" y="2695077"/>
            <a:ext cx="5320519" cy="360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7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2DE6800-6223-4850-91CD-8B369F4E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Le machine learning : programmation</a:t>
            </a:r>
            <a:endParaRPr lang="fr-FR" dirty="0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E0E897-9AED-30BD-48D9-2ECCEF70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296885"/>
            <a:ext cx="5540829" cy="33636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Présentation du machine learning.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 Programmation de situations d’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apprentissage supervisé </a:t>
            </a:r>
            <a:r>
              <a:rPr lang="fr-FR" b="1" dirty="0"/>
              <a:t>/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non supervisé</a:t>
            </a:r>
            <a:r>
              <a:rPr lang="fr-FR" b="1" dirty="0"/>
              <a:t> en Python.</a:t>
            </a:r>
          </a:p>
          <a:p>
            <a:pPr marL="0" indent="0">
              <a:buNone/>
            </a:pP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9F0171-8AAB-6F7A-B680-88FB3A4DF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i="1" u="sng" dirty="0"/>
              <a:t>Bibliothèques en Python</a:t>
            </a:r>
          </a:p>
          <a:p>
            <a:pPr marL="0" indent="0">
              <a:buNone/>
            </a:pPr>
            <a:endParaRPr lang="fr-FR" b="1" u="sng" dirty="0"/>
          </a:p>
          <a:p>
            <a:pPr marL="0" indent="0">
              <a:buNone/>
            </a:pPr>
            <a:endParaRPr lang="fr-FR" b="1" u="sng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4C231AD-85F0-B74D-287F-A406AB08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202" y="2296885"/>
            <a:ext cx="3937595" cy="391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530</Words>
  <Application>Microsoft Office PowerPoint</Application>
  <PresentationFormat>Grand écran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Thème Office</vt:lpstr>
      <vt:lpstr>NSI en Première</vt:lpstr>
      <vt:lpstr>Demandez le programme !</vt:lpstr>
      <vt:lpstr>Données</vt:lpstr>
      <vt:lpstr>Algorithmique</vt:lpstr>
      <vt:lpstr>Langages et programmation</vt:lpstr>
      <vt:lpstr>Machines</vt:lpstr>
      <vt:lpstr>Organisation des cours</vt:lpstr>
      <vt:lpstr>L’épreuve du baccalauréat</vt:lpstr>
      <vt:lpstr>Projets / Carré magique</vt:lpstr>
      <vt:lpstr>Projets / Jeu Pong</vt:lpstr>
      <vt:lpstr>Projets / Logiciel de manipulation d’images</vt:lpstr>
      <vt:lpstr>Projets / QCM</vt:lpstr>
      <vt:lpstr>Production / Terrain en 3D</vt:lpstr>
      <vt:lpstr>Le machine learning : programmation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NSI en Terminale</dc:title>
  <dc:creator>laurent mayer</dc:creator>
  <cp:lastModifiedBy>laurent mayer</cp:lastModifiedBy>
  <cp:revision>41</cp:revision>
  <dcterms:created xsi:type="dcterms:W3CDTF">2021-08-27T14:18:12Z</dcterms:created>
  <dcterms:modified xsi:type="dcterms:W3CDTF">2026-09-05T14:38:32Z</dcterms:modified>
</cp:coreProperties>
</file>